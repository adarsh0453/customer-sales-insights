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34155"/>
                </a:solidFill>
                <a:latin typeface="Arial"/>
              </a:rPr>
              <a:t>Customer Count by Gender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Female (F)</c:v>
                  </c:pt>
                  <c:pt idx="1">
                    <c:v>Male (M)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7832</c:v>
                </c:pt>
                <c:pt idx="1">
                  <c:v>3407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34155"/>
                </a:solidFill>
                <a:latin typeface="Arial"/>
              </a:rPr>
              <a:t>Revenue Split by Gender (in ₹ Cr)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bubble3D val="0"/>
            <c:spPr>
              <a:solidFill>
                <a:srgbClr val="F9731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74</c:v>
                </c:pt>
                <c:pt idx="1">
                  <c:v>32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34155"/>
                </a:solidFill>
                <a:latin typeface="Arial"/>
              </a:rPr>
              <a:t>Customer Count by Age Group &amp; Gender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26-35</c:v>
                  </c:pt>
                  <c:pt idx="1">
                    <c:v>36-45</c:v>
                  </c:pt>
                  <c:pt idx="2">
                    <c:v>18-25</c:v>
                  </c:pt>
                  <c:pt idx="3">
                    <c:v>46-50</c:v>
                  </c:pt>
                  <c:pt idx="4">
                    <c:v>51-55</c:v>
                  </c:pt>
                  <c:pt idx="5">
                    <c:v>55+</c:v>
                  </c:pt>
                  <c:pt idx="6">
                    <c:v>0-17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3269</c:v>
                </c:pt>
                <c:pt idx="1">
                  <c:v>1578</c:v>
                </c:pt>
                <c:pt idx="2">
                  <c:v>1305</c:v>
                </c:pt>
                <c:pt idx="3">
                  <c:v>693</c:v>
                </c:pt>
                <c:pt idx="4">
                  <c:v>553</c:v>
                </c:pt>
                <c:pt idx="5">
                  <c:v>272</c:v>
                </c:pt>
                <c:pt idx="6">
                  <c:v>162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26-35</c:v>
                  </c:pt>
                  <c:pt idx="1">
                    <c:v>36-45</c:v>
                  </c:pt>
                  <c:pt idx="2">
                    <c:v>18-25</c:v>
                  </c:pt>
                  <c:pt idx="3">
                    <c:v>46-50</c:v>
                  </c:pt>
                  <c:pt idx="4">
                    <c:v>51-55</c:v>
                  </c:pt>
                  <c:pt idx="5">
                    <c:v>55+</c:v>
                  </c:pt>
                  <c:pt idx="6">
                    <c:v>0-17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1272</c:v>
                </c:pt>
                <c:pt idx="1">
                  <c:v>705</c:v>
                </c:pt>
                <c:pt idx="2">
                  <c:v>574</c:v>
                </c:pt>
                <c:pt idx="3">
                  <c:v>290</c:v>
                </c:pt>
                <c:pt idx="4">
                  <c:v>277</c:v>
                </c:pt>
                <c:pt idx="5">
                  <c:v>155</c:v>
                </c:pt>
                <c:pt idx="6">
                  <c:v>134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34155"/>
                </a:solidFill>
                <a:latin typeface="Arial"/>
              </a:rPr>
              <a:t>Total Orders by State (Top 10)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DD3F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AE6F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0F2F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0F9F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2E8F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Uttar Pradesh</c:v>
                  </c:pt>
                  <c:pt idx="1">
                    <c:v>Maharashtra</c:v>
                  </c:pt>
                  <c:pt idx="2">
                    <c:v>Karnataka</c:v>
                  </c:pt>
                  <c:pt idx="3">
                    <c:v>Delhi</c:v>
                  </c:pt>
                  <c:pt idx="4">
                    <c:v>Madhya Pradesh</c:v>
                  </c:pt>
                  <c:pt idx="5">
                    <c:v>Andhra Pradesh</c:v>
                  </c:pt>
                  <c:pt idx="6">
                    <c:v>Himachal Pradesh</c:v>
                  </c:pt>
                  <c:pt idx="7">
                    <c:v>Kerala/Haryana</c:v>
                  </c:pt>
                  <c:pt idx="8">
                    <c:v>Bihar</c:v>
                  </c:pt>
                  <c:pt idx="9">
                    <c:v>Gujarat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4800</c:v>
                </c:pt>
                <c:pt idx="1">
                  <c:v>3800</c:v>
                </c:pt>
                <c:pt idx="2">
                  <c:v>3250</c:v>
                </c:pt>
                <c:pt idx="3">
                  <c:v>2700</c:v>
                </c:pt>
                <c:pt idx="4">
                  <c:v>2250</c:v>
                </c:pt>
                <c:pt idx="5">
                  <c:v>2050</c:v>
                </c:pt>
                <c:pt idx="6">
                  <c:v>1550</c:v>
                </c:pt>
                <c:pt idx="7">
                  <c:v>1100</c:v>
                </c:pt>
                <c:pt idx="8">
                  <c:v>1050</c:v>
                </c:pt>
                <c:pt idx="9">
                  <c:v>1050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34155"/>
                </a:solidFill>
                <a:latin typeface="Arial"/>
              </a:rPr>
              <a:t>Total Revenue by State (₹ Cr)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₹Cr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50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67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7E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0956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8AC7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0C38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8DA9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0F19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0F0A0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D0EAA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Uttar Pradesh</c:v>
                  </c:pt>
                  <c:pt idx="1">
                    <c:v>Maharashtra</c:v>
                  </c:pt>
                  <c:pt idx="2">
                    <c:v>Karnataka</c:v>
                  </c:pt>
                  <c:pt idx="3">
                    <c:v>Delhi</c:v>
                  </c:pt>
                  <c:pt idx="4">
                    <c:v>Madhya Pradesh</c:v>
                  </c:pt>
                  <c:pt idx="5">
                    <c:v>Andhra Pradesh</c:v>
                  </c:pt>
                  <c:pt idx="6">
                    <c:v>Himachal Pradesh</c:v>
                  </c:pt>
                  <c:pt idx="7">
                    <c:v>Kerala/Haryana</c:v>
                  </c:pt>
                  <c:pt idx="8">
                    <c:v>Bihar</c:v>
                  </c:pt>
                  <c:pt idx="9">
                    <c:v>Gujarat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</c:v>
                </c:pt>
                <c:pt idx="1">
                  <c:v>14.5</c:v>
                </c:pt>
                <c:pt idx="2">
                  <c:v>13.5</c:v>
                </c:pt>
                <c:pt idx="3">
                  <c:v>11.5</c:v>
                </c:pt>
                <c:pt idx="4">
                  <c:v>8</c:v>
                </c:pt>
                <c:pt idx="5">
                  <c:v>7.9</c:v>
                </c:pt>
                <c:pt idx="6">
                  <c:v>5</c:v>
                </c:pt>
                <c:pt idx="7">
                  <c:v>4.2</c:v>
                </c:pt>
                <c:pt idx="8">
                  <c:v>4</c:v>
                </c:pt>
                <c:pt idx="9">
                  <c:v>3.9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34155"/>
                </a:solidFill>
                <a:latin typeface="Arial"/>
              </a:rPr>
              <a:t>Number of Customers by Occupation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EE7B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7F3D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CFBF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0F2F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0FDF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D1FAE5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A7F3D0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6EE7B7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cat>
            <c:multiLvlStrRef>
              <c:f>Sheet1!$A$2:$A$16</c:f>
              <c:multiLvlStrCache>
                <c:ptCount val="15"/>
                <c:lvl>
                  <c:pt idx="0">
                    <c:v>IT Sector</c:v>
                  </c:pt>
                  <c:pt idx="1">
                    <c:v>Healthcare</c:v>
                  </c:pt>
                  <c:pt idx="2">
                    <c:v>Aviation</c:v>
                  </c:pt>
                  <c:pt idx="3">
                    <c:v>Banking</c:v>
                  </c:pt>
                  <c:pt idx="4">
                    <c:v>Govt</c:v>
                  </c:pt>
                  <c:pt idx="5">
                    <c:v>Hospitality</c:v>
                  </c:pt>
                  <c:pt idx="6">
                    <c:v>Media</c:v>
                  </c:pt>
                  <c:pt idx="7">
                    <c:v>Automobile</c:v>
                  </c:pt>
                  <c:pt idx="8">
                    <c:v>Chemical</c:v>
                  </c:pt>
                  <c:pt idx="9">
                    <c:v>Lawyer</c:v>
                  </c:pt>
                  <c:pt idx="10">
                    <c:v>Retail</c:v>
                  </c:pt>
                  <c:pt idx="11">
                    <c:v>Food Proc.</c:v>
                  </c:pt>
                  <c:pt idx="12">
                    <c:v>Construction</c:v>
                  </c:pt>
                  <c:pt idx="13">
                    <c:v>Textile</c:v>
                  </c:pt>
                  <c:pt idx="14">
                    <c:v>Agriculture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1583</c:v>
                </c:pt>
                <c:pt idx="1">
                  <c:v>1408</c:v>
                </c:pt>
                <c:pt idx="2">
                  <c:v>1310</c:v>
                </c:pt>
                <c:pt idx="3">
                  <c:v>1137</c:v>
                </c:pt>
                <c:pt idx="4">
                  <c:v>854</c:v>
                </c:pt>
                <c:pt idx="5">
                  <c:v>703</c:v>
                </c:pt>
                <c:pt idx="6">
                  <c:v>637</c:v>
                </c:pt>
                <c:pt idx="7">
                  <c:v>565</c:v>
                </c:pt>
                <c:pt idx="8">
                  <c:v>541</c:v>
                </c:pt>
                <c:pt idx="9">
                  <c:v>531</c:v>
                </c:pt>
                <c:pt idx="10">
                  <c:v>501</c:v>
                </c:pt>
                <c:pt idx="11">
                  <c:v>423</c:v>
                </c:pt>
                <c:pt idx="12">
                  <c:v>414</c:v>
                </c:pt>
                <c:pt idx="13">
                  <c:v>349</c:v>
                </c:pt>
                <c:pt idx="14">
                  <c:v>283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34155"/>
                </a:solidFill>
                <a:latin typeface="Arial"/>
              </a:rPr>
              <a:t>Orders Share by Category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bubble3D val="0"/>
            <c:spPr>
              <a:solidFill>
                <a:srgbClr val="F97316"/>
              </a:solidFill>
              <a:effectLst/>
            </c:spPr>
          </c:dPt>
          <c:dPt>
            <c:idx val="5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Food</c:v>
                </c:pt>
                <c:pt idx="1">
                  <c:v>Clothing &amp; Apparel</c:v>
                </c:pt>
                <c:pt idx="2">
                  <c:v>Electronics</c:v>
                </c:pt>
                <c:pt idx="3">
                  <c:v>Footwear &amp; Shoes</c:v>
                </c:pt>
                <c:pt idx="4">
                  <c:v>Furniture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2490</c:v>
                </c:pt>
                <c:pt idx="1">
                  <c:v>2655</c:v>
                </c:pt>
                <c:pt idx="2">
                  <c:v>2087</c:v>
                </c:pt>
                <c:pt idx="3">
                  <c:v>1059</c:v>
                </c:pt>
                <c:pt idx="4">
                  <c:v>352</c:v>
                </c:pt>
                <c:pt idx="5">
                  <c:v>1596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34155"/>
                </a:solidFill>
                <a:latin typeface="Arial"/>
              </a:rPr>
              <a:t>Revenue by Category (₹ Cr)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₹Cr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Food</c:v>
                  </c:pt>
                  <c:pt idx="1">
                    <c:v>Clothing
&amp; Apparel</c:v>
                  </c:pt>
                  <c:pt idx="2">
                    <c:v>Electronics
&amp; Gadgets</c:v>
                  </c:pt>
                  <c:pt idx="3">
                    <c:v>Footwear
&amp; Shoes</c:v>
                  </c:pt>
                  <c:pt idx="4">
                    <c:v>Furniture</c:v>
                  </c:pt>
                  <c:pt idx="5">
                    <c:v>Games
&amp; Toys</c:v>
                  </c:pt>
                  <c:pt idx="6">
                    <c:v>Sports
Products</c:v>
                  </c:pt>
                  <c:pt idx="7">
                    <c:v>Beauty</c:v>
                  </c:pt>
                  <c:pt idx="8">
                    <c:v>Auto</c:v>
                  </c:pt>
                  <c:pt idx="9">
                    <c:v>Stationery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33.5</c:v>
                </c:pt>
                <c:pt idx="1">
                  <c:v>16</c:v>
                </c:pt>
                <c:pt idx="2">
                  <c:v>15.5</c:v>
                </c:pt>
                <c:pt idx="3">
                  <c:v>15.5</c:v>
                </c:pt>
                <c:pt idx="4">
                  <c:v>5.3</c:v>
                </c:pt>
                <c:pt idx="5">
                  <c:v>4.3</c:v>
                </c:pt>
                <c:pt idx="6">
                  <c:v>1.5</c:v>
                </c:pt>
                <c:pt idx="7">
                  <c:v>1.2</c:v>
                </c:pt>
                <c:pt idx="8">
                  <c:v>1.15</c:v>
                </c:pt>
                <c:pt idx="9">
                  <c:v>1.1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560320"/>
            <a:ext cx="2743200" cy="27432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7315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&amp;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Insights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in-depth analysis of customer demographics, regional performance,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trends, and revenue drivers across all segments.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11,239 Records  |  FY 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274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50876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performs a comprehensive Exploratory Data Analysis (EDA) on a retail sales dataset containing 11,239 customer transaction records.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35915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31343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explores purchasing behavior across gender, age, geography, occupation, product categories, and marital status.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163824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11810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Seaborn, Matplotlib) was used for data cleaning, transformation, and visualization.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968496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922776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extract actionable business insights to guide marketing strategy, inventory planning, and customer targeting.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15087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11,239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46320" y="18379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15087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58000" y="18379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/ Columns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21671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28+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846320" y="24963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Covered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21671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58000" y="24963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926080"/>
            <a:ext cx="41148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926080"/>
            <a:ext cx="41148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29260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493008"/>
            <a:ext cx="164592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5102352" y="3429000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customer demographics driving revenue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877056"/>
            <a:ext cx="164592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5102352" y="3813048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state-wise and occupation-wise sales patterns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4261104"/>
            <a:ext cx="164592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5102352" y="4197096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best-selling product categories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4645152"/>
            <a:ext cx="164592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5102352" y="4581144"/>
            <a:ext cx="3639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marital &amp; age-based purchase behaviour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GENDER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274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965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1965960" cy="109728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1556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11,239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70992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9659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04872" y="1005840"/>
            <a:ext cx="1965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04872" y="1005840"/>
            <a:ext cx="1965960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2496312" y="111556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7,832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96312" y="170992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96312" y="19659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69.7% of total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81144" y="1005840"/>
            <a:ext cx="1965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81144" y="1005840"/>
            <a:ext cx="1965960" cy="1097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4672584" y="111556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3,407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72584" y="170992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72584" y="19659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30.3% of total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57416" y="1005840"/>
            <a:ext cx="196596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57416" y="1005840"/>
            <a:ext cx="196596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848856" y="1115568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₹7.4 Cr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48856" y="170992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Revenue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48856" y="19659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 of total amt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28600" y="2423160"/>
          <a:ext cx="41148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6" name="Chart 1" descr=""/>
          <p:cNvGraphicFramePr/>
          <p:nvPr/>
        </p:nvGraphicFramePr>
        <p:xfrm>
          <a:off x="4572000" y="2423160"/>
          <a:ext cx="42062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GROUP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274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" y="1005840"/>
          <a:ext cx="8686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28600" y="3931920"/>
            <a:ext cx="8686800" cy="96012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3959352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Insight: The 26–35 age group dominates both customer count (4,541) and revenue (~₹42 Cr), making it the highest-value segment. Customers aged 36–45 rank second in revenue (₹22 Cr).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PERFORMANCE — TOP 10 STATES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274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" y="1005840"/>
          <a:ext cx="8686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228600" y="3200400"/>
          <a:ext cx="86868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OCCUPATION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274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" y="1005840"/>
          <a:ext cx="86868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28600" y="31089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OCCUPATIONS BY REVENUE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8600" y="3456432"/>
            <a:ext cx="1645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28600" y="3456432"/>
            <a:ext cx="164592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35478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" y="38679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Sector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74320" y="42336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₹14.5 Cr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984248" y="3456432"/>
            <a:ext cx="1645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984248" y="3456432"/>
            <a:ext cx="164592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2029968" y="35478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029968" y="38679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2029968" y="42336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₹13.0 Cr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739896" y="3456432"/>
            <a:ext cx="1645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739896" y="3456432"/>
            <a:ext cx="164592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3785616" y="35478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785616" y="38679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3785616" y="42336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₹12.5 Cr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95544" y="3456432"/>
            <a:ext cx="1645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495544" y="3456432"/>
            <a:ext cx="164592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1"/>
          <p:cNvSpPr/>
          <p:nvPr/>
        </p:nvSpPr>
        <p:spPr>
          <a:xfrm>
            <a:off x="5541264" y="35478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541264" y="38679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541264" y="42336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₹11.0 Cr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251192" y="3456432"/>
            <a:ext cx="1645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251192" y="3456432"/>
            <a:ext cx="164592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6"/>
          <p:cNvSpPr/>
          <p:nvPr/>
        </p:nvSpPr>
        <p:spPr>
          <a:xfrm>
            <a:off x="7296912" y="35478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296912" y="38679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7296912" y="42336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₹8.5 Cr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CATEGORY INSIGHTS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274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28600" y="100584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572000" y="1005840"/>
          <a:ext cx="4343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28600" y="3886200"/>
            <a:ext cx="868680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4"/>
          <p:cNvSpPr/>
          <p:nvPr/>
        </p:nvSpPr>
        <p:spPr>
          <a:xfrm>
            <a:off x="365760" y="3904488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Food, Clothing &amp; Apparel, and Electronics &amp; Gadgets are the top 3 revenue-generating categories — together accounting for over 60% of total sales revenue.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2743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91440" cy="1234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06424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064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107899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Female-Dominated Market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 of customers are female; they generate ~70% of total revenue — focus marketing on female segments.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987552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87552"/>
            <a:ext cx="91440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1106424"/>
            <a:ext cx="329184" cy="32918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1064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49240" y="107899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 is the Power Segment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37760" y="150876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age group has the highest count (4,541) and highest revenue (₹42 Cr). Premium products should target this cohort.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359152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59152"/>
            <a:ext cx="91440" cy="1234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478024"/>
            <a:ext cx="329184" cy="3291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4780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8680" y="245059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 Pradesh Leads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288036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tops both orders (~4,800) and revenue (~₹19 Cr). Maharashtra, Karnataka &amp; Delhi follow closely.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359152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359152"/>
            <a:ext cx="91440" cy="1234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Shape 23"/>
          <p:cNvSpPr/>
          <p:nvPr/>
        </p:nvSpPr>
        <p:spPr>
          <a:xfrm>
            <a:off x="4937760" y="2478024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4780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49240" y="245059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&amp; Healthcare Drive Revenue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37760" y="288036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Sector and Healthcare customers together contribute ₹27.5 Cr — high-value audience to retain and upsell.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730752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730752"/>
            <a:ext cx="91440" cy="1234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849624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68680" y="382219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Fashion Rule Sales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425196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Clothing &amp; Apparel, and Electronics account for over 60% of revenue — prioritize inventory and offers here.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730752"/>
            <a:ext cx="4206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730752"/>
            <a:ext cx="91440" cy="123444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7" name="Shape 35"/>
          <p:cNvSpPr/>
          <p:nvPr/>
        </p:nvSpPr>
        <p:spPr>
          <a:xfrm>
            <a:off x="4937760" y="3849624"/>
            <a:ext cx="329184" cy="329184"/>
          </a:xfrm>
          <a:prstGeom prst="ellipse">
            <a:avLst/>
          </a:prstGeom>
          <a:solidFill>
            <a:srgbClr val="0F1F3D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49240" y="382219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Singles Buy More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937760" y="425196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Unmarried customers (6,518) outnumber married (4,721) and spend more in aggregate across both genders.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Analytics Report</dc:title>
  <dc:subject>PptxGenJS Presentation</dc:subject>
  <dc:creator>PptxGenJS</dc:creator>
  <cp:lastModifiedBy>PptxGenJS</cp:lastModifiedBy>
  <cp:revision>1</cp:revision>
  <dcterms:created xsi:type="dcterms:W3CDTF">2026-05-30T05:23:58Z</dcterms:created>
  <dcterms:modified xsi:type="dcterms:W3CDTF">2026-05-30T05:23:58Z</dcterms:modified>
</cp:coreProperties>
</file>